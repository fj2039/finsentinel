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8A916A-9C0A-423C-91B2-B30F52BB8EB8}">
  <a:tblStyle styleId="{518A916A-9C0A-423C-91B2-B30F52BB8EB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a98a66ad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a98a66ad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a98a66a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a98a66a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a98a66ad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a98a66ad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98a66ad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a98a66ad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a98a66ad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9a98a66ad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a98a66ad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9a98a66ad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a98a66ad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9a98a66ad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9a98a66ad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9a98a66ad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a98a66ad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9a98a66ad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rn2357-cloud/financial-sentiment-analysis" TargetMode="External"/><Relationship Id="rId4" Type="http://schemas.openxmlformats.org/officeDocument/2006/relationships/hyperlink" Target="https://github.com/rn2357-cloud/financial-sentiment-analysis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6FfopDGO9J1ROv-to3Q_moOZfMUuGuqH/view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502920" y="914400"/>
            <a:ext cx="5943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5800"/>
              <a:buFont typeface="Calibri"/>
              <a:buNone/>
            </a:pPr>
            <a:r>
              <a:rPr b="1" i="0" lang="en" sz="60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FinSentinel</a:t>
            </a:r>
            <a:endParaRPr b="1" i="0" sz="6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502920" y="2176272"/>
            <a:ext cx="6400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700"/>
              <a:buFont typeface="Calibri"/>
              <a:buNone/>
            </a:pPr>
            <a:r>
              <a:rPr b="1" i="0" lang="en" sz="190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Financial Sentiment Analysis using LLMs</a:t>
            </a:r>
            <a:endParaRPr b="1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502924" y="2724822"/>
            <a:ext cx="6670500" cy="69000"/>
          </a:xfrm>
          <a:prstGeom prst="rect">
            <a:avLst/>
          </a:prstGeom>
          <a:solidFill>
            <a:srgbClr val="E8D5B0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58" name="Google Shape;58;p13"/>
          <p:cNvSpPr/>
          <p:nvPr/>
        </p:nvSpPr>
        <p:spPr>
          <a:xfrm>
            <a:off x="502920" y="2852928"/>
            <a:ext cx="548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200"/>
              <a:buFont typeface="Calibri"/>
              <a:buNone/>
            </a:pPr>
            <a:r>
              <a:rPr b="1" lang="en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Dori Fu</a:t>
            </a:r>
            <a:r>
              <a:rPr b="1" i="0" lang="en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 ·  </a:t>
            </a:r>
            <a:r>
              <a:rPr b="1" lang="en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Rhea Nayar</a:t>
            </a:r>
            <a:r>
              <a:rPr b="1" i="0" lang="en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 ·  </a:t>
            </a:r>
            <a:r>
              <a:rPr b="1" lang="en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Fatema Jaynab</a:t>
            </a:r>
            <a:endParaRPr b="1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502920" y="3127248"/>
            <a:ext cx="548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200"/>
              <a:buFont typeface="Calibri"/>
              <a:buNone/>
            </a:pPr>
            <a:r>
              <a:rPr b="1" i="0" lang="en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DS-UA 301  ·  NYU  ·  </a:t>
            </a:r>
            <a:r>
              <a:rPr b="1" lang="en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May 13, 2026</a:t>
            </a:r>
            <a:endParaRPr b="1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>
            <a:hlinkClick r:id="rId3"/>
          </p:cNvPr>
          <p:cNvSpPr/>
          <p:nvPr/>
        </p:nvSpPr>
        <p:spPr>
          <a:xfrm>
            <a:off x="502920" y="3401568"/>
            <a:ext cx="640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" sz="130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github.com/rn2357-cloud/financial-sentiment-analysis</a:t>
            </a:r>
            <a:endParaRPr b="1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7406640" y="914400"/>
            <a:ext cx="1508700" cy="1051500"/>
          </a:xfrm>
          <a:prstGeom prst="rect">
            <a:avLst/>
          </a:prstGeom>
          <a:solidFill>
            <a:srgbClr val="F7EDE0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5C3D2E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2" name="Google Shape;62;p13"/>
          <p:cNvSpPr/>
          <p:nvPr/>
        </p:nvSpPr>
        <p:spPr>
          <a:xfrm>
            <a:off x="7406640" y="987552"/>
            <a:ext cx="1508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900"/>
              <a:buFont typeface="Calibri"/>
              <a:buNone/>
            </a:pPr>
            <a:r>
              <a:rPr b="1" i="0" lang="en" sz="3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0.978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7406640" y="1572768"/>
            <a:ext cx="150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0" lang="en" sz="11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Best Macro F1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7406640" y="2212848"/>
            <a:ext cx="1508700" cy="1051500"/>
          </a:xfrm>
          <a:prstGeom prst="rect">
            <a:avLst/>
          </a:prstGeom>
          <a:solidFill>
            <a:srgbClr val="F7EDE0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5C3D2E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5" name="Google Shape;65;p13"/>
          <p:cNvSpPr/>
          <p:nvPr/>
        </p:nvSpPr>
        <p:spPr>
          <a:xfrm>
            <a:off x="7406640" y="2286000"/>
            <a:ext cx="1508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900"/>
              <a:buFont typeface="Calibri"/>
              <a:buNone/>
            </a:pPr>
            <a:r>
              <a:rPr b="1" i="0" lang="en" sz="3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7406640" y="2871216"/>
            <a:ext cx="150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0" lang="en" sz="11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Model Tiers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7406640" y="3511296"/>
            <a:ext cx="1508700" cy="1051500"/>
          </a:xfrm>
          <a:prstGeom prst="rect">
            <a:avLst/>
          </a:prstGeom>
          <a:solidFill>
            <a:srgbClr val="F7EDE0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5C3D2E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8" name="Google Shape;68;p13"/>
          <p:cNvSpPr/>
          <p:nvPr/>
        </p:nvSpPr>
        <p:spPr>
          <a:xfrm>
            <a:off x="7406640" y="3584448"/>
            <a:ext cx="1508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900"/>
              <a:buFont typeface="Calibri"/>
              <a:buNone/>
            </a:pPr>
            <a:r>
              <a:rPr b="1" i="0" lang="en" sz="3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2,264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7406640" y="4169664"/>
            <a:ext cx="150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0" lang="en" sz="11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FPB Sentences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457200" y="274320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457200" y="457200"/>
            <a:ext cx="8229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57200" y="932688"/>
            <a:ext cx="8229600" cy="11100"/>
          </a:xfrm>
          <a:prstGeom prst="rect">
            <a:avLst/>
          </a:prstGeom>
          <a:solidFill>
            <a:srgbClr val="E8D5B0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1809810" y="1081237"/>
            <a:ext cx="18300" cy="658500"/>
          </a:xfrm>
          <a:prstGeom prst="rect">
            <a:avLst/>
          </a:prstGeom>
          <a:solidFill>
            <a:srgbClr val="E8D5C4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79" name="Google Shape;79;p14"/>
          <p:cNvSpPr/>
          <p:nvPr/>
        </p:nvSpPr>
        <p:spPr>
          <a:xfrm>
            <a:off x="575370" y="1008085"/>
            <a:ext cx="1188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1946970" y="1008085"/>
            <a:ext cx="6858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200"/>
              <a:buFont typeface="Calibri"/>
              <a:buNone/>
            </a:pPr>
            <a:r>
              <a:rPr b="0" i="0" lang="en" sz="13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Manually tracking financial sentiment across hundreds of headlines is slow, costly, and inconsistent. Existing tools lack calibration for a retail investor's perspective.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1809810" y="2059645"/>
            <a:ext cx="18300" cy="658500"/>
          </a:xfrm>
          <a:prstGeom prst="rect">
            <a:avLst/>
          </a:prstGeom>
          <a:solidFill>
            <a:srgbClr val="E8D5C4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82" name="Google Shape;82;p14"/>
          <p:cNvSpPr/>
          <p:nvPr/>
        </p:nvSpPr>
        <p:spPr>
          <a:xfrm>
            <a:off x="575370" y="1986493"/>
            <a:ext cx="1188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300"/>
              <a:buFont typeface="Calibri"/>
              <a:buNone/>
            </a:pPr>
            <a:r>
              <a:rPr b="1" i="0" lang="en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1946970" y="1986493"/>
            <a:ext cx="6858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200"/>
              <a:buFont typeface="Calibri"/>
              <a:buNone/>
            </a:pPr>
            <a:r>
              <a:rPr b="0" i="0" lang="en" sz="13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Automatically classify financial headlines as positive, negative, or neutral from a retail investor's perspective, with structured risk metadata (type, severity, horizon).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1809810" y="3038053"/>
            <a:ext cx="18300" cy="658500"/>
          </a:xfrm>
          <a:prstGeom prst="rect">
            <a:avLst/>
          </a:prstGeom>
          <a:solidFill>
            <a:srgbClr val="E8D5C4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85" name="Google Shape;85;p14"/>
          <p:cNvSpPr/>
          <p:nvPr/>
        </p:nvSpPr>
        <p:spPr>
          <a:xfrm>
            <a:off x="575370" y="2964901"/>
            <a:ext cx="1188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300"/>
              <a:buFont typeface="Calibri"/>
              <a:buNone/>
            </a:pPr>
            <a:r>
              <a:rPr b="1" i="0" lang="en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1946970" y="2964901"/>
            <a:ext cx="6858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200"/>
              <a:buFont typeface="Calibri"/>
              <a:buNone/>
            </a:pPr>
            <a:r>
              <a:rPr lang="en" sz="1300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" sz="13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-tier pipeline: Majority baseline</a:t>
            </a:r>
            <a:r>
              <a:rPr lang="en" sz="1300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0" i="0" lang="en" sz="13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TF-IDF+LogReg → FinBERT zero-shot → FinBERT+LoRA → LLM prompting (zero/few/CoT/RAG+CoT) → ReAct agent + DistilBERT distillation.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1809810" y="4016461"/>
            <a:ext cx="18300" cy="658500"/>
          </a:xfrm>
          <a:prstGeom prst="rect">
            <a:avLst/>
          </a:prstGeom>
          <a:solidFill>
            <a:srgbClr val="E8D5C4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88" name="Google Shape;88;p14"/>
          <p:cNvSpPr/>
          <p:nvPr/>
        </p:nvSpPr>
        <p:spPr>
          <a:xfrm>
            <a:off x="575370" y="3943309"/>
            <a:ext cx="1188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1300"/>
              <a:buFont typeface="Calibri"/>
              <a:buNone/>
            </a:pPr>
            <a:r>
              <a:rPr b="1" i="0" lang="en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1946970" y="3943309"/>
            <a:ext cx="6858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200"/>
              <a:buFont typeface="Calibri"/>
              <a:buNone/>
            </a:pPr>
            <a:r>
              <a:rPr b="0" i="0" lang="en" sz="13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FinBERT+LoRA achieves 0.978 macro F1 at 50ms latency and zero API cost — matching GPT-4o-mini few-shot, surpassing TF-IDF by +11 points on macro F1.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457200" y="274320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457200" y="43891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Motivation &amp; Related Work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457200" y="941832"/>
            <a:ext cx="8229600" cy="18300"/>
          </a:xfrm>
          <a:prstGeom prst="rect">
            <a:avLst/>
          </a:prstGeom>
          <a:solidFill>
            <a:srgbClr val="E8D5C4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502920" y="1024128"/>
            <a:ext cx="3840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Retail investors process hundreds of financial headlines daily.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Financial language is domain-specific — 'profit warning' is not just general negativity.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Directional signals from a retail investor differ from raw sentiment.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500"/>
              <a:buFont typeface="Calibri"/>
              <a:buChar char="•"/>
            </a:pPr>
            <a:r>
              <a:rPr b="0" i="0" lang="en" sz="15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Existing tools lack calibration for investor perspective.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500"/>
              <a:buFont typeface="Calibri"/>
              <a:buChar char="•"/>
            </a:pPr>
            <a:r>
              <a:rPr b="1" i="0" lang="en" sz="15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Dataset: Financial PhraseBank (FPB AllAgree)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300"/>
              <a:buFont typeface="Calibri"/>
              <a:buNone/>
            </a:pPr>
            <a:r>
              <a:rPr b="0" i="0" lang="en" sz="15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2,264 sentences annotated by 16 finance professionals. Highest-quality subset where all annotators agreed.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4553712" y="1024128"/>
            <a:ext cx="18300" cy="3886200"/>
          </a:xfrm>
          <a:prstGeom prst="rect">
            <a:avLst/>
          </a:prstGeom>
          <a:solidFill>
            <a:srgbClr val="E8D5C4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0" name="Google Shape;100;p15"/>
          <p:cNvSpPr/>
          <p:nvPr/>
        </p:nvSpPr>
        <p:spPr>
          <a:xfrm>
            <a:off x="4681728" y="1060704"/>
            <a:ext cx="427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1" i="0" lang="en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Deng et al. (2023)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4681728" y="1261872"/>
            <a:ext cx="427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250"/>
              <a:buFont typeface="Calibri"/>
              <a:buNone/>
            </a:pPr>
            <a:r>
              <a:rPr b="1" i="0" lang="en" sz="14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Reddit Market Sentiment Analysis</a:t>
            </a:r>
            <a:endParaRPr b="0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4681728" y="1536192"/>
            <a:ext cx="4270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050"/>
              <a:buFont typeface="Calibri"/>
              <a:buNone/>
            </a:pPr>
            <a:r>
              <a:rPr b="0" i="0" lang="en" sz="12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Method: LLM in-context learning + CoT on Reddit posts with weak labels. Fine-tuned model generalizes to FiQA.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4681728" y="2139696"/>
            <a:ext cx="4270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0" i="1" lang="en" sz="12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⚡ Limitation: Only positive/neutral/negative — no multi-dimensional risk tagging.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4681728" y="2688336"/>
            <a:ext cx="4270200" cy="18300"/>
          </a:xfrm>
          <a:prstGeom prst="rect">
            <a:avLst/>
          </a:prstGeom>
          <a:solidFill>
            <a:srgbClr val="E8D5C4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5" name="Google Shape;105;p15"/>
          <p:cNvSpPr/>
          <p:nvPr/>
        </p:nvSpPr>
        <p:spPr>
          <a:xfrm>
            <a:off x="4681728" y="2798064"/>
            <a:ext cx="427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1" i="0" lang="en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Vijayan (2023)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4681728" y="2999232"/>
            <a:ext cx="427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250"/>
              <a:buFont typeface="Calibri"/>
              <a:buNone/>
            </a:pPr>
            <a:r>
              <a:rPr b="1" i="0" lang="en" sz="14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Prompt Structured Extraction</a:t>
            </a:r>
            <a:endParaRPr b="0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4681728" y="3273552"/>
            <a:ext cx="4270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050"/>
              <a:buFont typeface="Calibri"/>
              <a:buNone/>
            </a:pPr>
            <a:r>
              <a:rPr b="0" i="0" lang="en" sz="12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Method: ChatGPT / BARD with standard, persona, CoT, and few-shot prompts for structured extraction from travel emails.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4681728" y="3877056"/>
            <a:ext cx="4270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0" i="1" lang="en" sz="12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⚡ Limitation: General domain (travel), not finance. No investor-perspective calibration.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4681753" y="4526202"/>
            <a:ext cx="4270200" cy="3474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0" name="Google Shape;110;p15"/>
          <p:cNvSpPr/>
          <p:nvPr/>
        </p:nvSpPr>
        <p:spPr>
          <a:xfrm>
            <a:off x="4754905" y="4535346"/>
            <a:ext cx="4133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contribution: extends both papers into multi-dimensional financial risk tagging with quantitative benchmarks.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457200" y="274320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457200" y="43891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5-Tier Pipeline Architecture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457200" y="941832"/>
            <a:ext cx="8229600" cy="18300"/>
          </a:xfrm>
          <a:prstGeom prst="rect">
            <a:avLst/>
          </a:prstGeom>
          <a:solidFill>
            <a:srgbClr val="E8D5C4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411480" y="1024128"/>
            <a:ext cx="1572900" cy="2742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0" name="Google Shape;120;p16"/>
          <p:cNvSpPr/>
          <p:nvPr/>
        </p:nvSpPr>
        <p:spPr>
          <a:xfrm>
            <a:off x="411480" y="1024128"/>
            <a:ext cx="157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 0–1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411480" y="1298448"/>
            <a:ext cx="15729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5C3D2E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2" name="Google Shape;122;p16"/>
          <p:cNvSpPr/>
          <p:nvPr/>
        </p:nvSpPr>
        <p:spPr>
          <a:xfrm>
            <a:off x="484632" y="1408176"/>
            <a:ext cx="142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200"/>
              <a:buFont typeface="Calibri"/>
              <a:buNone/>
            </a:pPr>
            <a:r>
              <a:rPr b="1" i="0" lang="en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Baselines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484632" y="1892808"/>
            <a:ext cx="1426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0" lang="en" sz="12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Majority class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0" lang="en" sz="12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+ TF-IDF+LogReg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576072" y="2990088"/>
            <a:ext cx="1234500" cy="347400"/>
          </a:xfrm>
          <a:prstGeom prst="rect">
            <a:avLst/>
          </a:prstGeom>
          <a:solidFill>
            <a:srgbClr val="F7EDE0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5" name="Google Shape;125;p16"/>
          <p:cNvSpPr/>
          <p:nvPr/>
        </p:nvSpPr>
        <p:spPr>
          <a:xfrm>
            <a:off x="576072" y="2990088"/>
            <a:ext cx="1234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1" i="0" lang="en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F1: 0.34 / 0.87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2112264" y="1024128"/>
            <a:ext cx="1572900" cy="274200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7" name="Google Shape;127;p16"/>
          <p:cNvSpPr/>
          <p:nvPr/>
        </p:nvSpPr>
        <p:spPr>
          <a:xfrm>
            <a:off x="2112264" y="1024128"/>
            <a:ext cx="157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 2A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2112264" y="1298448"/>
            <a:ext cx="15729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5C3D2E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9" name="Google Shape;129;p16"/>
          <p:cNvSpPr/>
          <p:nvPr/>
        </p:nvSpPr>
        <p:spPr>
          <a:xfrm>
            <a:off x="2185416" y="1408176"/>
            <a:ext cx="142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200"/>
              <a:buFont typeface="Calibri"/>
              <a:buNone/>
            </a:pPr>
            <a:r>
              <a:rPr b="1" i="0" lang="en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FinBERT ZS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2185416" y="1892808"/>
            <a:ext cx="1426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0" lang="en" sz="12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Domain-pretrained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0" lang="en" sz="12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BERT (110M params)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2276856" y="2990088"/>
            <a:ext cx="1234500" cy="347400"/>
          </a:xfrm>
          <a:prstGeom prst="rect">
            <a:avLst/>
          </a:prstGeom>
          <a:solidFill>
            <a:srgbClr val="F7EDE0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2" name="Google Shape;132;p16"/>
          <p:cNvSpPr/>
          <p:nvPr/>
        </p:nvSpPr>
        <p:spPr>
          <a:xfrm>
            <a:off x="2276856" y="2990088"/>
            <a:ext cx="1234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950"/>
              <a:buFont typeface="Calibri"/>
              <a:buNone/>
            </a:pPr>
            <a:r>
              <a:rPr b="1" i="0" lang="en" sz="1150" u="none" cap="none" strike="noStrike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F1: 0.963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3813048" y="1024128"/>
            <a:ext cx="1572900" cy="2742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4" name="Google Shape;134;p16"/>
          <p:cNvSpPr/>
          <p:nvPr/>
        </p:nvSpPr>
        <p:spPr>
          <a:xfrm>
            <a:off x="3813048" y="1024128"/>
            <a:ext cx="157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 2B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3813048" y="1298448"/>
            <a:ext cx="15729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5C3D2E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6" name="Google Shape;136;p16"/>
          <p:cNvSpPr/>
          <p:nvPr/>
        </p:nvSpPr>
        <p:spPr>
          <a:xfrm>
            <a:off x="3886200" y="1408176"/>
            <a:ext cx="142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200"/>
              <a:buFont typeface="Calibri"/>
              <a:buNone/>
            </a:pPr>
            <a:r>
              <a:rPr b="1" i="0" lang="en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FinBERT+LoRA ★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3886200" y="1892808"/>
            <a:ext cx="1426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0" lang="en" sz="12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PEFT r=8, 3 epochs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0" lang="en" sz="12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0.27% params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3977640" y="2990088"/>
            <a:ext cx="1234500" cy="347400"/>
          </a:xfrm>
          <a:prstGeom prst="rect">
            <a:avLst/>
          </a:prstGeom>
          <a:solidFill>
            <a:srgbClr val="F7EDE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9" name="Google Shape;139;p16"/>
          <p:cNvSpPr/>
          <p:nvPr/>
        </p:nvSpPr>
        <p:spPr>
          <a:xfrm>
            <a:off x="3977640" y="2990088"/>
            <a:ext cx="1234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" sz="11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F1: 0.978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5513832" y="1024128"/>
            <a:ext cx="1572900" cy="2742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1" name="Google Shape;141;p16"/>
          <p:cNvSpPr/>
          <p:nvPr/>
        </p:nvSpPr>
        <p:spPr>
          <a:xfrm>
            <a:off x="5513832" y="1024128"/>
            <a:ext cx="157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 3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513832" y="1298448"/>
            <a:ext cx="15729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5C3D2E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3" name="Google Shape;143;p16"/>
          <p:cNvSpPr/>
          <p:nvPr/>
        </p:nvSpPr>
        <p:spPr>
          <a:xfrm>
            <a:off x="5586984" y="1408176"/>
            <a:ext cx="142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200"/>
              <a:buFont typeface="Calibri"/>
              <a:buNone/>
            </a:pPr>
            <a:r>
              <a:rPr b="1" i="0" lang="en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LLM Prompting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586984" y="1892808"/>
            <a:ext cx="1426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0" lang="en" sz="12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Zero/Few/CoT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0" lang="en" sz="12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RAG+CoT (GPT-4o-mini)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678424" y="2990088"/>
            <a:ext cx="1234500" cy="347400"/>
          </a:xfrm>
          <a:prstGeom prst="rect">
            <a:avLst/>
          </a:prstGeom>
          <a:solidFill>
            <a:srgbClr val="F7EDE0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6" name="Google Shape;146;p16"/>
          <p:cNvSpPr/>
          <p:nvPr/>
        </p:nvSpPr>
        <p:spPr>
          <a:xfrm>
            <a:off x="5678424" y="2990088"/>
            <a:ext cx="1234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50"/>
              <a:buFont typeface="Calibri"/>
              <a:buNone/>
            </a:pPr>
            <a:r>
              <a:rPr b="1" i="0" lang="en" sz="11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F1: 0.83–0.98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7214616" y="1024128"/>
            <a:ext cx="1572900" cy="2742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8" name="Google Shape;148;p16"/>
          <p:cNvSpPr/>
          <p:nvPr/>
        </p:nvSpPr>
        <p:spPr>
          <a:xfrm>
            <a:off x="7214616" y="1024128"/>
            <a:ext cx="157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 4–5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7214616" y="1298448"/>
            <a:ext cx="1572900" cy="283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5C3D2E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0" name="Google Shape;150;p16"/>
          <p:cNvSpPr/>
          <p:nvPr/>
        </p:nvSpPr>
        <p:spPr>
          <a:xfrm>
            <a:off x="7287768" y="1408176"/>
            <a:ext cx="142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200"/>
              <a:buFont typeface="Calibri"/>
              <a:buNone/>
            </a:pPr>
            <a:r>
              <a:rPr b="1" i="0" lang="en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Agent+Distilled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7287768" y="1892808"/>
            <a:ext cx="1426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0" lang="en" sz="12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ReAct agent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0" lang="en" sz="12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+ DistilBERT student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7379208" y="2990088"/>
            <a:ext cx="1234500" cy="347400"/>
          </a:xfrm>
          <a:prstGeom prst="rect">
            <a:avLst/>
          </a:prstGeom>
          <a:solidFill>
            <a:srgbClr val="F7EDE0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3" name="Google Shape;153;p16"/>
          <p:cNvSpPr/>
          <p:nvPr/>
        </p:nvSpPr>
        <p:spPr>
          <a:xfrm>
            <a:off x="7379208" y="2990088"/>
            <a:ext cx="1234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1" i="0" lang="en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F1: 0.26 / 0.54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411480" y="4315968"/>
            <a:ext cx="8412600" cy="5670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5" name="Google Shape;155;p16"/>
          <p:cNvSpPr/>
          <p:nvPr/>
        </p:nvSpPr>
        <p:spPr>
          <a:xfrm>
            <a:off x="502920" y="4334256"/>
            <a:ext cx="8229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  Best accuracy-cost-latency balance: FinBERT+LoRA — 0.978 F1 · 50ms · zero API cost · 0.27% params trained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457200" y="256032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457200" y="43891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Implementation &amp; Experiment Details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457200" y="941832"/>
            <a:ext cx="8229600" cy="18300"/>
          </a:xfrm>
          <a:prstGeom prst="rect">
            <a:avLst/>
          </a:prstGeom>
          <a:solidFill>
            <a:srgbClr val="E8D5C4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4572000" y="1024128"/>
            <a:ext cx="18300" cy="3886200"/>
          </a:xfrm>
          <a:prstGeom prst="rect">
            <a:avLst/>
          </a:prstGeom>
          <a:solidFill>
            <a:srgbClr val="E8D5C4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65" name="Google Shape;165;p17"/>
          <p:cNvSpPr/>
          <p:nvPr/>
        </p:nvSpPr>
        <p:spPr>
          <a:xfrm>
            <a:off x="502920" y="1051560"/>
            <a:ext cx="384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Data &amp; Evaluation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502920" y="1463040"/>
            <a:ext cx="1508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Dataset: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2057400" y="1463040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100"/>
              <a:buFont typeface="Calibri"/>
              <a:buNone/>
            </a:pPr>
            <a:r>
              <a:rPr b="0" i="0" lang="en" sz="120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FPB AllAgree (2,264 sentences)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502920" y="1938528"/>
            <a:ext cx="1508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Train / Test: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2057400" y="1938528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100"/>
              <a:buFont typeface="Calibri"/>
              <a:buNone/>
            </a:pPr>
            <a:r>
              <a:rPr b="0" i="0" lang="en" sz="120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80% train / 20% test, stratified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502920" y="2414016"/>
            <a:ext cx="1508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LLM eval: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057400" y="2414016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100"/>
              <a:buFont typeface="Calibri"/>
              <a:buNone/>
            </a:pPr>
            <a:r>
              <a:rPr b="0" i="0" lang="en" sz="120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200-sentence stratified sample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502920" y="2889504"/>
            <a:ext cx="1508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Cross-domain: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2057400" y="2889504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100"/>
              <a:buFont typeface="Calibri"/>
              <a:buNone/>
            </a:pPr>
            <a:r>
              <a:rPr b="0" i="0" lang="en" sz="120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FiQA-Sentiment (Twitter/Stocktwits)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502920" y="3364992"/>
            <a:ext cx="1508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Primary metric: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2057400" y="3364992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100"/>
              <a:buFont typeface="Calibri"/>
              <a:buNone/>
            </a:pPr>
            <a:r>
              <a:rPr b="0" i="0" lang="en" sz="120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Macro F1 — 61.4% neutral imbalance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502920" y="3840480"/>
            <a:ext cx="1508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Stats tests: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2057400" y="3840480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100"/>
              <a:buFont typeface="Calibri"/>
              <a:buNone/>
            </a:pPr>
            <a:r>
              <a:rPr b="0" i="0" lang="en" sz="120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McNemar + Wilson 95% CIs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502920" y="4315968"/>
            <a:ext cx="1508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API cost: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2057400" y="4315968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100"/>
              <a:buFont typeface="Calibri"/>
              <a:buNone/>
            </a:pPr>
            <a:r>
              <a:rPr b="0" i="0" lang="en" sz="120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Distillation corpus: $0.37 total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4754880" y="1051560"/>
            <a:ext cx="402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Key Hyperparameters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4754880" y="1463040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050"/>
              <a:buFont typeface="Calibri"/>
              <a:buNone/>
            </a:pPr>
            <a:r>
              <a:rPr b="1" i="0" lang="en" sz="11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LoRA rank r: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6355080" y="1463040"/>
            <a:ext cx="2423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0" lang="en" sz="11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4754880" y="1847088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050"/>
              <a:buFont typeface="Calibri"/>
              <a:buNone/>
            </a:pPr>
            <a:r>
              <a:rPr b="1" i="0" lang="en" sz="11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LoRA alpha: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6355080" y="1847088"/>
            <a:ext cx="2423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0" lang="en" sz="11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16 · dropout 0.1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4754880" y="2231136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050"/>
              <a:buFont typeface="Calibri"/>
              <a:buNone/>
            </a:pPr>
            <a:r>
              <a:rPr b="1" i="0" lang="en" sz="11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LoRA targets: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6355080" y="2231136"/>
            <a:ext cx="2423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0" lang="en" sz="11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Q + V attention layers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4754880" y="2615184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050"/>
              <a:buFont typeface="Calibri"/>
              <a:buNone/>
            </a:pPr>
            <a:r>
              <a:rPr b="1" i="0" lang="en" sz="11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Training: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6355080" y="2615184"/>
            <a:ext cx="2423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0" lang="en" sz="11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3 epochs · lr 2e-4 · batch 16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4754880" y="2999232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050"/>
              <a:buFont typeface="Calibri"/>
              <a:buNone/>
            </a:pPr>
            <a:r>
              <a:rPr b="1" i="0" lang="en" sz="11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LLM model: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6355080" y="2999232"/>
            <a:ext cx="2423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0" lang="en" sz="11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GPT-4o-mini, temperature=0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4754880" y="3383280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050"/>
              <a:buFont typeface="Calibri"/>
              <a:buNone/>
            </a:pPr>
            <a:r>
              <a:rPr b="1" i="0" lang="en" sz="11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Few-shot: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6355080" y="3383280"/>
            <a:ext cx="2423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0" lang="en" sz="11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6 examples (2 per class, held-out)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4754880" y="3767328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050"/>
              <a:buFont typeface="Calibri"/>
              <a:buNone/>
            </a:pPr>
            <a:r>
              <a:rPr b="1" i="0" lang="en" sz="11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RAG: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6355080" y="3767328"/>
            <a:ext cx="2423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0" lang="en" sz="11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BM25 (40%) + FAISS (60%), k=3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4754880" y="4151376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050"/>
              <a:buFont typeface="Calibri"/>
              <a:buNone/>
            </a:pPr>
            <a:r>
              <a:rPr b="1" i="0" lang="en" sz="11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Distillation: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6355080" y="4151376"/>
            <a:ext cx="2423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0" lang="en" sz="11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500 examples · 5 CoT paths · MSE loss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4754880" y="4535424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050"/>
              <a:buFont typeface="Calibri"/>
              <a:buNone/>
            </a:pPr>
            <a:r>
              <a:rPr b="1" i="0" lang="en" sz="11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Student: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6355080" y="4535424"/>
            <a:ext cx="2423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0" lang="en" sz="11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DistilBERT · 5 epochs · 66M params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457200" y="256032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457200" y="43891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Demo — FinSentinel: Financial Risk Intelligence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457200" y="941832"/>
            <a:ext cx="8229600" cy="18300"/>
          </a:xfrm>
          <a:prstGeom prst="rect">
            <a:avLst/>
          </a:prstGeom>
          <a:solidFill>
            <a:srgbClr val="E8D5C4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502920" y="1078992"/>
            <a:ext cx="54900" cy="658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685800" y="1097280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200"/>
              <a:buFont typeface="Calibri"/>
              <a:buNone/>
            </a:pPr>
            <a:r>
              <a:rPr b="1" i="0" lang="en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Live headlines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685800" y="1353312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100"/>
              <a:buFont typeface="Calibri"/>
              <a:buNone/>
            </a:pPr>
            <a:r>
              <a:rPr b="0" i="0" lang="en" sz="130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Fetches real-time Yahoo Finance RSS headlines by ticker (AAPL, MSFT, NVDA, etc.)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502920" y="1975104"/>
            <a:ext cx="54900" cy="658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685800" y="1993392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200"/>
              <a:buFont typeface="Calibri"/>
              <a:buNone/>
            </a:pPr>
            <a:r>
              <a:rPr b="1" i="0" lang="en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Sentiment pipeline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685800" y="2249424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100"/>
              <a:buFont typeface="Calibri"/>
              <a:buNone/>
            </a:pPr>
            <a:r>
              <a:rPr b="0" i="0" lang="en" sz="130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Classifies each headline with zero-shot / few-shot / CoT / RAG+CoT prompting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502920" y="2871216"/>
            <a:ext cx="54900" cy="658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685800" y="2889504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200"/>
              <a:buFont typeface="Calibri"/>
              <a:buNone/>
            </a:pPr>
            <a:r>
              <a:rPr b="1" i="0" lang="en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Daily scores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685800" y="3145536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100"/>
              <a:buFont typeface="Calibri"/>
              <a:buNone/>
            </a:pPr>
            <a:r>
              <a:rPr b="0" i="0" lang="en" sz="130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Aggregates per-headline sentiment into daily scores per ticker (range: −1 to +1)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502920" y="3767328"/>
            <a:ext cx="54900" cy="658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685800" y="3785616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200"/>
              <a:buFont typeface="Calibri"/>
              <a:buNone/>
            </a:pPr>
            <a:r>
              <a:rPr b="1" i="0" lang="en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Price correlation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685800" y="4041648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100"/>
              <a:buFont typeface="Calibri"/>
              <a:buNone/>
            </a:pPr>
            <a:r>
              <a:rPr b="0" i="0" lang="en" sz="130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Fetches actual yfinance returns and computes Pearson + Spearman correlation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4160520" y="1051560"/>
            <a:ext cx="4663500" cy="3794700"/>
          </a:xfrm>
          <a:prstGeom prst="rect">
            <a:avLst/>
          </a:prstGeom>
          <a:solidFill>
            <a:srgbClr val="F7EDE0"/>
          </a:solidFill>
          <a:ln cap="flat" cmpd="sng" w="1905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5C3D2E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8"/>
          <p:cNvSpPr/>
          <p:nvPr/>
        </p:nvSpPr>
        <p:spPr>
          <a:xfrm>
            <a:off x="4160520" y="1051560"/>
            <a:ext cx="4663500" cy="37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6B5A"/>
              </a:buClr>
              <a:buSzPts val="1400"/>
              <a:buFont typeface="Calibri"/>
              <a:buNone/>
            </a:pPr>
            <a:r>
              <a:rPr b="0" i="1" lang="en" sz="1400" u="none" cap="none" strike="noStrike">
                <a:solidFill>
                  <a:srgbClr val="8B6B5A"/>
                </a:solidFill>
                <a:latin typeface="Calibri"/>
                <a:ea typeface="Calibri"/>
                <a:cs typeface="Calibri"/>
                <a:sym typeface="Calibri"/>
              </a:rPr>
              <a:t>[ Add app </a:t>
            </a:r>
            <a:r>
              <a:rPr i="1" lang="en">
                <a:solidFill>
                  <a:srgbClr val="8B6B5A"/>
                </a:solidFill>
                <a:latin typeface="Calibri"/>
                <a:ea typeface="Calibri"/>
                <a:cs typeface="Calibri"/>
                <a:sym typeface="Calibri"/>
              </a:rPr>
              <a:t>recording</a:t>
            </a:r>
            <a:r>
              <a:rPr b="0" i="1" lang="en" sz="1400" u="none" cap="none" strike="noStrike">
                <a:solidFill>
                  <a:srgbClr val="8B6B5A"/>
                </a:solidFill>
                <a:latin typeface="Calibri"/>
                <a:ea typeface="Calibri"/>
                <a:cs typeface="Calibri"/>
                <a:sym typeface="Calibri"/>
              </a:rPr>
              <a:t> here ]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18" title="Screen Recording 2026-05-13 at 4.48.12 PM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6275" y="115407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457200" y="256032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457200" y="43891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Results — Model Performance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457200" y="941832"/>
            <a:ext cx="8229600" cy="18300"/>
          </a:xfrm>
          <a:prstGeom prst="rect">
            <a:avLst/>
          </a:prstGeom>
          <a:solidFill>
            <a:srgbClr val="E8D5C4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30" name="Google Shape;230;p19"/>
          <p:cNvSpPr/>
          <p:nvPr/>
        </p:nvSpPr>
        <p:spPr>
          <a:xfrm>
            <a:off x="5989320" y="1005840"/>
            <a:ext cx="28347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5C3D2E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31" name="Google Shape;231;p19"/>
          <p:cNvSpPr/>
          <p:nvPr/>
        </p:nvSpPr>
        <p:spPr>
          <a:xfrm>
            <a:off x="5989320" y="1005840"/>
            <a:ext cx="54900" cy="8229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6144768" y="1078992"/>
            <a:ext cx="26061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050"/>
              <a:buFont typeface="Calibri"/>
              <a:buNone/>
            </a:pPr>
            <a:r>
              <a:rPr b="0" i="0" lang="en" sz="12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FinBERT+LoRA ties GPT-4o few-shot (0.978 F1) at zero API cost and 50ms latency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5989320" y="1975104"/>
            <a:ext cx="28347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5C3D2E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34" name="Google Shape;234;p19"/>
          <p:cNvSpPr/>
          <p:nvPr/>
        </p:nvSpPr>
        <p:spPr>
          <a:xfrm>
            <a:off x="5989320" y="1975104"/>
            <a:ext cx="54900" cy="822900"/>
          </a:xfrm>
          <a:prstGeom prst="rect">
            <a:avLst/>
          </a:prstGeom>
          <a:solidFill>
            <a:srgbClr val="276749"/>
          </a:solidFill>
          <a:ln cap="flat" cmpd="sng" w="12700">
            <a:solidFill>
              <a:srgbClr val="2767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6144768" y="2048256"/>
            <a:ext cx="26061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050"/>
              <a:buFont typeface="Calibri"/>
              <a:buNone/>
            </a:pPr>
            <a:r>
              <a:rPr b="0" i="0" lang="en" sz="12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Few-shot beats zero-shot by +15 F1 points (p&lt;0.001, McNemar)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5989320" y="2944368"/>
            <a:ext cx="28347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5C3D2E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37" name="Google Shape;237;p19"/>
          <p:cNvSpPr/>
          <p:nvPr/>
        </p:nvSpPr>
        <p:spPr>
          <a:xfrm>
            <a:off x="5989320" y="2944368"/>
            <a:ext cx="54900" cy="8229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9"/>
          <p:cNvSpPr/>
          <p:nvPr/>
        </p:nvSpPr>
        <p:spPr>
          <a:xfrm>
            <a:off x="6144768" y="3017520"/>
            <a:ext cx="26061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050"/>
              <a:buFont typeface="Calibri"/>
              <a:buNone/>
            </a:pPr>
            <a:r>
              <a:rPr b="0" i="0" lang="en" sz="12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CoT (0.941) underperforms few-shot — adds conservative neutral bias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5989320" y="3913632"/>
            <a:ext cx="28347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5C3D2E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40" name="Google Shape;240;p19"/>
          <p:cNvSpPr/>
          <p:nvPr/>
        </p:nvSpPr>
        <p:spPr>
          <a:xfrm>
            <a:off x="5989320" y="3913632"/>
            <a:ext cx="54900" cy="8229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6144768" y="3986784"/>
            <a:ext cx="26061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050"/>
              <a:buFont typeface="Calibri"/>
              <a:buNone/>
            </a:pPr>
            <a:r>
              <a:rPr b="0" i="0" lang="en" sz="12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FiQA cross-domain: accuracy drops to 10% — clean benchmark ≠ real-world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19" title="Screenshot 2026-05-10 at 2.06.0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288" y="1079007"/>
            <a:ext cx="5385444" cy="3878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457200" y="274320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457200" y="43891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Results — Error Analysis &amp; Statistical Tests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457200" y="941832"/>
            <a:ext cx="8229600" cy="18300"/>
          </a:xfrm>
          <a:prstGeom prst="rect">
            <a:avLst/>
          </a:prstGeom>
          <a:solidFill>
            <a:srgbClr val="E8D5C4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0"/>
          <p:cNvSpPr/>
          <p:nvPr/>
        </p:nvSpPr>
        <p:spPr>
          <a:xfrm>
            <a:off x="4572000" y="1024128"/>
            <a:ext cx="18300" cy="3886200"/>
          </a:xfrm>
          <a:prstGeom prst="rect">
            <a:avLst/>
          </a:prstGeom>
          <a:solidFill>
            <a:srgbClr val="E8D5C4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52" name="Google Shape;252;p20"/>
          <p:cNvSpPr/>
          <p:nvPr/>
        </p:nvSpPr>
        <p:spPr>
          <a:xfrm>
            <a:off x="457195" y="1051560"/>
            <a:ext cx="384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Dominant Error: Neutral → Positive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457195" y="1481328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Zero-shot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1417315" y="1499616"/>
            <a:ext cx="1577400" cy="2376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55" name="Google Shape;255;p20"/>
          <p:cNvSpPr/>
          <p:nvPr/>
        </p:nvSpPr>
        <p:spPr>
          <a:xfrm>
            <a:off x="2994655" y="1499616"/>
            <a:ext cx="525900" cy="2376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56" name="Google Shape;256;p20"/>
          <p:cNvSpPr/>
          <p:nvPr/>
        </p:nvSpPr>
        <p:spPr>
          <a:xfrm>
            <a:off x="3593587" y="1481328"/>
            <a:ext cx="100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50"/>
              <a:buFont typeface="Calibri"/>
              <a:buNone/>
            </a:pPr>
            <a:r>
              <a:rPr b="0" i="0" lang="en" sz="10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6/8 neutral→pos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457195" y="2231136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Few-shot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1417315" y="2249424"/>
            <a:ext cx="1261800" cy="2376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59" name="Google Shape;259;p20"/>
          <p:cNvSpPr/>
          <p:nvPr/>
        </p:nvSpPr>
        <p:spPr>
          <a:xfrm>
            <a:off x="2679187" y="2249424"/>
            <a:ext cx="841200" cy="2376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60" name="Google Shape;260;p20"/>
          <p:cNvSpPr/>
          <p:nvPr/>
        </p:nvSpPr>
        <p:spPr>
          <a:xfrm>
            <a:off x="3593587" y="2231136"/>
            <a:ext cx="100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50"/>
              <a:buFont typeface="Calibri"/>
              <a:buNone/>
            </a:pPr>
            <a:r>
              <a:rPr b="0" i="0" lang="en" sz="10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3/5 neutral→pos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457195" y="2980944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CoT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1417315" y="2999232"/>
            <a:ext cx="300300" cy="2376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63" name="Google Shape;263;p20"/>
          <p:cNvSpPr/>
          <p:nvPr/>
        </p:nvSpPr>
        <p:spPr>
          <a:xfrm>
            <a:off x="1717761" y="2999232"/>
            <a:ext cx="901200" cy="2376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64" name="Google Shape;264;p20"/>
          <p:cNvSpPr/>
          <p:nvPr/>
        </p:nvSpPr>
        <p:spPr>
          <a:xfrm>
            <a:off x="3593587" y="2980944"/>
            <a:ext cx="100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50"/>
              <a:buFont typeface="Calibri"/>
              <a:buNone/>
            </a:pPr>
            <a:r>
              <a:rPr b="0" i="0" lang="en" sz="10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1/7 neutral→pos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502920" y="4005072"/>
            <a:ext cx="183000" cy="1647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66" name="Google Shape;266;p20"/>
          <p:cNvSpPr/>
          <p:nvPr/>
        </p:nvSpPr>
        <p:spPr>
          <a:xfrm>
            <a:off x="731520" y="3986784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900"/>
              <a:buFont typeface="Calibri"/>
              <a:buNone/>
            </a:pPr>
            <a:r>
              <a:rPr b="0" i="0" lang="en" sz="100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Neutral→Pos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1920240" y="4005072"/>
            <a:ext cx="183000" cy="164700"/>
          </a:xfrm>
          <a:prstGeom prst="rect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68" name="Google Shape;268;p20"/>
          <p:cNvSpPr/>
          <p:nvPr/>
        </p:nvSpPr>
        <p:spPr>
          <a:xfrm>
            <a:off x="2148840" y="3986784"/>
            <a:ext cx="914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900"/>
              <a:buFont typeface="Calibri"/>
              <a:buNone/>
            </a:pPr>
            <a:r>
              <a:rPr b="0" i="0" lang="en" sz="100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Other errors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502920" y="4279392"/>
            <a:ext cx="3840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E"/>
              </a:buClr>
              <a:buSzPts val="1050"/>
              <a:buFont typeface="Calibri"/>
              <a:buNone/>
            </a:pPr>
            <a:r>
              <a:rPr b="0" i="1" lang="en" sz="1150" u="none" cap="none" strike="noStrike">
                <a:solidFill>
                  <a:srgbClr val="5C3D2E"/>
                </a:solidFill>
                <a:latin typeface="Calibri"/>
                <a:ea typeface="Calibri"/>
                <a:cs typeface="Calibri"/>
                <a:sym typeface="Calibri"/>
              </a:rPr>
              <a:t>Root cause: zero-shot sees 'revenue' or 'sales' and infers positive without reading direction. Few-shot calibrates this by teaching investor perspective.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4754880" y="1051560"/>
            <a:ext cx="402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Statistical Significance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4800600" y="1481328"/>
            <a:ext cx="1737300" cy="1417200"/>
          </a:xfrm>
          <a:prstGeom prst="rect">
            <a:avLst/>
          </a:prstGeom>
          <a:solidFill>
            <a:srgbClr val="E8F5EE"/>
          </a:solidFill>
          <a:ln cap="flat" cmpd="sng" w="12700">
            <a:solidFill>
              <a:srgbClr val="276749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5C3D2E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72" name="Google Shape;272;p20"/>
          <p:cNvSpPr/>
          <p:nvPr/>
        </p:nvSpPr>
        <p:spPr>
          <a:xfrm>
            <a:off x="4800600" y="1609344"/>
            <a:ext cx="1737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2000"/>
              <a:buFont typeface="Calibri"/>
              <a:buNone/>
            </a:pPr>
            <a:r>
              <a:rPr b="1" i="0" lang="en" sz="21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p &lt; 0.001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4800600" y="2139696"/>
            <a:ext cx="173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950"/>
              <a:buFont typeface="Calibri"/>
              <a:buNone/>
            </a:pPr>
            <a:r>
              <a:rPr b="0" i="0" lang="en" sz="10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Zero-shot → Few-shot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950"/>
              <a:buFont typeface="Calibri"/>
              <a:buNone/>
            </a:pPr>
            <a:r>
              <a:rPr b="0" i="0" lang="en" sz="10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(McNemar, n=200)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6720840" y="1481328"/>
            <a:ext cx="1737300" cy="1417200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5C3D2E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75" name="Google Shape;275;p20"/>
          <p:cNvSpPr/>
          <p:nvPr/>
        </p:nvSpPr>
        <p:spPr>
          <a:xfrm>
            <a:off x="6720840" y="1609344"/>
            <a:ext cx="1737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000"/>
              <a:buFont typeface="Calibri"/>
              <a:buNone/>
            </a:pPr>
            <a:r>
              <a:rPr b="1" i="0" lang="en" sz="2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 = 0.109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6720840" y="2139696"/>
            <a:ext cx="173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950"/>
              <a:buFont typeface="Calibri"/>
              <a:buNone/>
            </a:pPr>
            <a:r>
              <a:rPr b="0" i="0" lang="en" sz="10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Few-shot → CoT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950"/>
              <a:buFont typeface="Calibri"/>
              <a:buNone/>
            </a:pPr>
            <a:r>
              <a:rPr b="0" i="0" lang="en" sz="10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(not significant)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4800600" y="3081528"/>
            <a:ext cx="1737300" cy="1417200"/>
          </a:xfrm>
          <a:prstGeom prst="rect">
            <a:avLst/>
          </a:prstGeom>
          <a:solidFill>
            <a:srgbClr val="E8F5EE"/>
          </a:solidFill>
          <a:ln cap="flat" cmpd="sng" w="12700">
            <a:solidFill>
              <a:srgbClr val="276749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5C3D2E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78" name="Google Shape;278;p20"/>
          <p:cNvSpPr/>
          <p:nvPr/>
        </p:nvSpPr>
        <p:spPr>
          <a:xfrm>
            <a:off x="4800600" y="3209544"/>
            <a:ext cx="1737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2000"/>
              <a:buFont typeface="Calibri"/>
              <a:buNone/>
            </a:pPr>
            <a:r>
              <a:rPr b="1" i="0" lang="en" sz="21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27 / 29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4800600" y="3739896"/>
            <a:ext cx="173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950"/>
              <a:buFont typeface="Calibri"/>
              <a:buNone/>
            </a:pPr>
            <a:r>
              <a:rPr b="0" i="0" lang="en" sz="10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Disagreements fixed by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950"/>
              <a:buFont typeface="Calibri"/>
              <a:buNone/>
            </a:pPr>
            <a:r>
              <a:rPr b="0" i="0" lang="en" sz="10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few-shot vs zero-shot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6720840" y="3081528"/>
            <a:ext cx="1737300" cy="1417200"/>
          </a:xfrm>
          <a:prstGeom prst="rect">
            <a:avLst/>
          </a:prstGeom>
          <a:solidFill>
            <a:srgbClr val="E8F5EE"/>
          </a:solidFill>
          <a:ln cap="flat" cmpd="sng" w="12700">
            <a:solidFill>
              <a:srgbClr val="276749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5C3D2E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81" name="Google Shape;281;p20"/>
          <p:cNvSpPr/>
          <p:nvPr/>
        </p:nvSpPr>
        <p:spPr>
          <a:xfrm>
            <a:off x="6720840" y="3209544"/>
            <a:ext cx="1737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6749"/>
              </a:buClr>
              <a:buSzPts val="2000"/>
              <a:buFont typeface="Calibri"/>
              <a:buNone/>
            </a:pPr>
            <a:r>
              <a:rPr b="1" i="0" lang="en" sz="2100" u="none" cap="none" strike="noStrike">
                <a:solidFill>
                  <a:srgbClr val="276749"/>
                </a:solidFill>
                <a:latin typeface="Calibri"/>
                <a:ea typeface="Calibri"/>
                <a:cs typeface="Calibri"/>
                <a:sym typeface="Calibri"/>
              </a:rPr>
              <a:t>+10.6 pts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6720840" y="3739896"/>
            <a:ext cx="173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950"/>
              <a:buFont typeface="Calibri"/>
              <a:buNone/>
            </a:pPr>
            <a:r>
              <a:rPr b="0" i="0" lang="en" sz="10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Macro F1 gain over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950"/>
              <a:buFont typeface="Calibri"/>
              <a:buNone/>
            </a:pPr>
            <a:r>
              <a:rPr b="0" i="0" lang="en" sz="105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TF-IDF baseline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C3D2E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457200" y="256032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TAKEAWAYS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457200" y="43891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6EC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DF6EC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457200" y="941832"/>
            <a:ext cx="8229600" cy="183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411480" y="1078992"/>
            <a:ext cx="4023300" cy="1691700"/>
          </a:xfrm>
          <a:prstGeom prst="rect">
            <a:avLst/>
          </a:prstGeom>
          <a:solidFill>
            <a:srgbClr val="3D2015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5C3D2E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92" name="Google Shape;292;p21"/>
          <p:cNvSpPr/>
          <p:nvPr/>
        </p:nvSpPr>
        <p:spPr>
          <a:xfrm>
            <a:off x="548640" y="1170432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200"/>
              <a:buFont typeface="Calibri"/>
              <a:buNone/>
            </a:pPr>
            <a:r>
              <a:rPr b="1" i="0" lang="en" sz="2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1069848" y="1216032"/>
            <a:ext cx="324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6EC"/>
              </a:buClr>
              <a:buSzPts val="1250"/>
              <a:buFont typeface="Calibri"/>
              <a:buNone/>
            </a:pPr>
            <a:r>
              <a:rPr b="1" i="0" lang="en" sz="1350" u="none" cap="none" strike="noStrike">
                <a:solidFill>
                  <a:srgbClr val="FDF6EC"/>
                </a:solidFill>
                <a:latin typeface="Calibri"/>
                <a:ea typeface="Calibri"/>
                <a:cs typeface="Calibri"/>
                <a:sym typeface="Calibri"/>
              </a:rPr>
              <a:t>Domain beats scale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548640" y="1627632"/>
            <a:ext cx="3749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D5C4"/>
              </a:buClr>
              <a:buSzPts val="1050"/>
              <a:buFont typeface="Calibri"/>
              <a:buNone/>
            </a:pPr>
            <a:r>
              <a:rPr b="0" i="0" lang="en" sz="1150" u="none" cap="none" strike="noStrike">
                <a:solidFill>
                  <a:srgbClr val="E8D5C4"/>
                </a:solidFill>
                <a:latin typeface="Calibri"/>
                <a:ea typeface="Calibri"/>
                <a:cs typeface="Calibri"/>
                <a:sym typeface="Calibri"/>
              </a:rPr>
              <a:t>FinBERT zero-shot (0.963) outperforms GPT-4o-mini zero-shot (0.828) despite being 70× smaller. Domain </a:t>
            </a:r>
            <a:r>
              <a:rPr lang="en" sz="1150">
                <a:solidFill>
                  <a:srgbClr val="E8D5C4"/>
                </a:solidFill>
                <a:latin typeface="Calibri"/>
                <a:ea typeface="Calibri"/>
                <a:cs typeface="Calibri"/>
                <a:sym typeface="Calibri"/>
              </a:rPr>
              <a:t>pre-training</a:t>
            </a:r>
            <a:r>
              <a:rPr b="0" i="0" lang="en" sz="1150" u="none" cap="none" strike="noStrike">
                <a:solidFill>
                  <a:srgbClr val="E8D5C4"/>
                </a:solidFill>
                <a:latin typeface="Calibri"/>
                <a:ea typeface="Calibri"/>
                <a:cs typeface="Calibri"/>
                <a:sym typeface="Calibri"/>
              </a:rPr>
              <a:t> matters more than model size.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4709160" y="1078992"/>
            <a:ext cx="4023300" cy="1691700"/>
          </a:xfrm>
          <a:prstGeom prst="rect">
            <a:avLst/>
          </a:prstGeom>
          <a:solidFill>
            <a:srgbClr val="3D2015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5C3D2E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96" name="Google Shape;296;p21"/>
          <p:cNvSpPr/>
          <p:nvPr/>
        </p:nvSpPr>
        <p:spPr>
          <a:xfrm>
            <a:off x="4846320" y="1170432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200"/>
              <a:buFont typeface="Calibri"/>
              <a:buNone/>
            </a:pPr>
            <a:r>
              <a:rPr b="1" i="0" lang="en" sz="2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5367528" y="1216032"/>
            <a:ext cx="324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6EC"/>
              </a:buClr>
              <a:buSzPts val="1250"/>
              <a:buFont typeface="Calibri"/>
              <a:buNone/>
            </a:pPr>
            <a:r>
              <a:rPr b="1" i="0" lang="en" sz="1350" u="none" cap="none" strike="noStrike">
                <a:solidFill>
                  <a:srgbClr val="FDF6EC"/>
                </a:solidFill>
                <a:latin typeface="Calibri"/>
                <a:ea typeface="Calibri"/>
                <a:cs typeface="Calibri"/>
                <a:sym typeface="Calibri"/>
              </a:rPr>
              <a:t>Few-shot calibration is the biggest lever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4983345" y="1627632"/>
            <a:ext cx="3749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D5C4"/>
              </a:buClr>
              <a:buSzPts val="1050"/>
              <a:buFont typeface="Calibri"/>
              <a:buNone/>
            </a:pPr>
            <a:r>
              <a:rPr b="0" i="0" lang="en" sz="1150" u="none" cap="none" strike="noStrike">
                <a:solidFill>
                  <a:srgbClr val="E8D5C4"/>
                </a:solidFill>
                <a:latin typeface="Calibri"/>
                <a:ea typeface="Calibri"/>
                <a:cs typeface="Calibri"/>
                <a:sym typeface="Calibri"/>
              </a:rPr>
              <a:t>6 labeled examples boost macro F1 from 0.828 → 0.978 (p&lt;0.001). They teach the model to judge directional investor signals, not surface words like 'sales'.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411480" y="2953512"/>
            <a:ext cx="4023300" cy="1691700"/>
          </a:xfrm>
          <a:prstGeom prst="rect">
            <a:avLst/>
          </a:prstGeom>
          <a:solidFill>
            <a:srgbClr val="3D2015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5C3D2E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00" name="Google Shape;300;p21"/>
          <p:cNvSpPr/>
          <p:nvPr/>
        </p:nvSpPr>
        <p:spPr>
          <a:xfrm>
            <a:off x="548640" y="3044952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200"/>
              <a:buFont typeface="Calibri"/>
              <a:buNone/>
            </a:pPr>
            <a:r>
              <a:rPr b="1" i="0" lang="en" sz="2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1069848" y="3090552"/>
            <a:ext cx="324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6EC"/>
              </a:buClr>
              <a:buSzPts val="1250"/>
              <a:buFont typeface="Calibri"/>
              <a:buNone/>
            </a:pPr>
            <a:r>
              <a:rPr b="1" i="0" lang="en" sz="1350" u="none" cap="none" strike="noStrike">
                <a:solidFill>
                  <a:srgbClr val="FDF6EC"/>
                </a:solidFill>
                <a:latin typeface="Calibri"/>
                <a:ea typeface="Calibri"/>
                <a:cs typeface="Calibri"/>
                <a:sym typeface="Calibri"/>
              </a:rPr>
              <a:t>FinBERT+LoRA is the practical winner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548640" y="3502152"/>
            <a:ext cx="3749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D5C4"/>
              </a:buClr>
              <a:buSzPts val="1050"/>
              <a:buFont typeface="Calibri"/>
              <a:buNone/>
            </a:pPr>
            <a:r>
              <a:rPr b="0" i="0" lang="en" sz="1150" u="none" cap="none" strike="noStrike">
                <a:solidFill>
                  <a:srgbClr val="E8D5C4"/>
                </a:solidFill>
                <a:latin typeface="Calibri"/>
                <a:ea typeface="Calibri"/>
                <a:cs typeface="Calibri"/>
                <a:sym typeface="Calibri"/>
              </a:rPr>
              <a:t>Matches GPT-4o-mini few-shot (0.978 F1) at zero API cost, 50ms latency, and 0.27% of params trained. Best accuracy-cost-latency tradeoff.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4709160" y="2953512"/>
            <a:ext cx="4023300" cy="1691700"/>
          </a:xfrm>
          <a:prstGeom prst="rect">
            <a:avLst/>
          </a:prstGeom>
          <a:solidFill>
            <a:srgbClr val="3D2015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5C3D2E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04" name="Google Shape;304;p21"/>
          <p:cNvSpPr/>
          <p:nvPr/>
        </p:nvSpPr>
        <p:spPr>
          <a:xfrm>
            <a:off x="4846320" y="3044952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200"/>
              <a:buFont typeface="Calibri"/>
              <a:buNone/>
            </a:pPr>
            <a:r>
              <a:rPr b="1" i="0" lang="en" sz="2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5367528" y="3090552"/>
            <a:ext cx="324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6EC"/>
              </a:buClr>
              <a:buSzPts val="1250"/>
              <a:buFont typeface="Calibri"/>
              <a:buNone/>
            </a:pPr>
            <a:r>
              <a:rPr b="1" i="0" lang="en" sz="1350" u="none" cap="none" strike="noStrike">
                <a:solidFill>
                  <a:srgbClr val="FDF6EC"/>
                </a:solidFill>
                <a:latin typeface="Calibri"/>
                <a:ea typeface="Calibri"/>
                <a:cs typeface="Calibri"/>
                <a:sym typeface="Calibri"/>
              </a:rPr>
              <a:t>Real-world gap remains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4846320" y="3502152"/>
            <a:ext cx="3749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D5C4"/>
              </a:buClr>
              <a:buSzPts val="1050"/>
              <a:buFont typeface="Calibri"/>
              <a:buNone/>
            </a:pPr>
            <a:r>
              <a:rPr b="0" i="0" lang="en" sz="1150" u="none" cap="none" strike="noStrike">
                <a:solidFill>
                  <a:srgbClr val="E8D5C4"/>
                </a:solidFill>
                <a:latin typeface="Calibri"/>
                <a:ea typeface="Calibri"/>
                <a:cs typeface="Calibri"/>
                <a:sym typeface="Calibri"/>
              </a:rPr>
              <a:t>Strong FPB results (98.5%) collapse on FiQA (10%). Future work: domain adaptation, larger distillation dataset, live sentiment-price RSS dashboard.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2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2"/>
          <p:cNvSpPr/>
          <p:nvPr/>
        </p:nvSpPr>
        <p:spPr>
          <a:xfrm>
            <a:off x="457200" y="256032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BACKUP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457200" y="43891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1810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2C1810"/>
                </a:solidFill>
                <a:latin typeface="Calibri"/>
                <a:ea typeface="Calibri"/>
                <a:cs typeface="Calibri"/>
                <a:sym typeface="Calibri"/>
              </a:rPr>
              <a:t>Complete Model Benchmark (FPB)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457200" y="941832"/>
            <a:ext cx="8229600" cy="18300"/>
          </a:xfrm>
          <a:prstGeom prst="rect">
            <a:avLst/>
          </a:prstGeom>
          <a:solidFill>
            <a:srgbClr val="E8D5C4"/>
          </a:solidFill>
          <a:ln cap="flat" cmpd="sng" w="12700">
            <a:solidFill>
              <a:srgbClr val="E8D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5" name="Google Shape;315;p22"/>
          <p:cNvGraphicFramePr/>
          <p:nvPr/>
        </p:nvGraphicFramePr>
        <p:xfrm>
          <a:off x="45720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{518A916A-9C0A-423C-91B2-B30F52BB8EB8}</a:tableStyleId>
              </a:tblPr>
              <a:tblGrid>
                <a:gridCol w="1828800"/>
                <a:gridCol w="914400"/>
                <a:gridCol w="822950"/>
                <a:gridCol w="777250"/>
                <a:gridCol w="777250"/>
                <a:gridCol w="320040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18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18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Macro F1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18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Latency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18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 Cost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18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1810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Majority baseline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64.5%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0.340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Lower bound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TF-IDF + LogReg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90.3%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&lt;1ms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Keyword-based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FinBERT zero-shot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96.0%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~80ms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 domain model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GPT-4o-mini zero-shot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~1.2s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Neutral-bias errors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GPT-4o-mini few-shot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97.5%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~1.2s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p&lt;0.001 vs zero-shot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GPT-4o-mini CoT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93.0%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~1.5s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Overcorrects to neutral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 + CoT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~2.0s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Marginal RAG gain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ReAct Agent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0.260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~5s+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Parsing failures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FinBERT+LoRA ★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98.5%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~50ms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76749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2767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overall 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0E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DistilBERT student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78.4%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0.539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~10ms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Neg class recall=0.02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D5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6" name="Google Shape;316;p22"/>
          <p:cNvSpPr/>
          <p:nvPr/>
        </p:nvSpPr>
        <p:spPr>
          <a:xfrm>
            <a:off x="457200" y="4754880"/>
            <a:ext cx="832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0" i="1" lang="en" sz="11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FiQA cross-domain: all models drop sharply (accuracy ~10%). Strong FPB results do not transfer to informal microblog financial text.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